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33"/>
    <p:restoredTop sz="94671"/>
  </p:normalViewPr>
  <p:slideViewPr>
    <p:cSldViewPr snapToGrid="0" snapToObjects="1">
      <p:cViewPr varScale="1">
        <p:scale>
          <a:sx n="138" d="100"/>
          <a:sy n="138" d="100"/>
        </p:scale>
        <p:origin x="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861" y="2286000"/>
            <a:ext cx="710027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RAG Retrieval Optimization &amp;</a:t>
            </a:r>
            <a:endParaRPr lang="en-US" dirty="0"/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 System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3671" y="3965171"/>
            <a:ext cx="483157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Complete Optimization Process from </a:t>
            </a:r>
            <a:endParaRPr lang="en-US" dirty="0"/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Retrieval Hit Rate to Prompt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Core Problems We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Problem 1: Extremely Low Retrieval Hit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FAISS dense-only: top-1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BM25-only: top-1 approaches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Many questions cannot find correct pages within top-5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Problem 2: LLM Prone to 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Mixing in external "common sense" and "reasoning"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Fabricates answers instead of saying "I don't know"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Problem 3: Unreasonable 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Too strict for cross-page summary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5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Test questions too simple, failing to expose defects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Four Major Optimization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1. Chunk Parameter Tuning</a:t>
            </a:r>
          </a:p>
          <a:p>
            <a:pPr>
              <a:spcBef>
                <a:spcPts val="600"/>
              </a:spcBef>
              <a:defRPr sz="1400">
                <a:latin typeface="Courier New"/>
              </a:defRPr>
            </a:pPr>
            <a:r>
              <a:t>1500 -&gt; 800 tokens</a:t>
            </a:r>
            <a:br/>
            <a:r>
              <a:t>overlap: 200</a:t>
            </a:r>
          </a:p>
          <a:p>
            <a:pPr>
              <a:spcBef>
                <a:spcPts val="600"/>
              </a:spcBef>
              <a:defRPr sz="1400"/>
            </a:pPr>
            <a:r>
              <a:t>Improve info concentration</a:t>
            </a:r>
            <a:br/>
            <a:r>
              <a:t>Reduce noise interference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2. Hybrid Retriever</a:t>
            </a:r>
          </a:p>
          <a:p>
            <a:pPr>
              <a:spcBef>
                <a:spcPts val="600"/>
              </a:spcBef>
              <a:defRPr sz="1400">
                <a:latin typeface="Courier New"/>
              </a:defRPr>
            </a:pPr>
            <a:r>
              <a:t>Dense(0.3) + BM25(0.7)</a:t>
            </a:r>
          </a:p>
          <a:p>
            <a:pPr>
              <a:spcBef>
                <a:spcPts val="600"/>
              </a:spcBef>
              <a:defRPr sz="1400"/>
            </a:pPr>
            <a:r>
              <a:t>Combine semantics + keywords</a:t>
            </a:r>
            <a:br/>
            <a:r>
              <a:t>BM25 most stable for book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3. Multi-Query Expansion</a:t>
            </a:r>
          </a:p>
          <a:p>
            <a:pPr>
              <a:spcBef>
                <a:spcPts val="600"/>
              </a:spcBef>
              <a:defRPr sz="1400">
                <a:latin typeface="Courier New"/>
              </a:defRPr>
            </a:pPr>
            <a:r>
              <a:t>1 question -&gt; 4 rewrites</a:t>
            </a:r>
          </a:p>
          <a:p>
            <a:pPr>
              <a:spcBef>
                <a:spcPts val="600"/>
              </a:spcBef>
              <a:defRPr sz="1400"/>
            </a:pPr>
            <a:r>
              <a:t>Improve recall by 20-40%</a:t>
            </a:r>
            <a:br/>
            <a:r>
              <a:t>Handle colloquial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4. Strict Prompt Constraints</a:t>
            </a:r>
          </a:p>
          <a:p>
            <a:pPr>
              <a:spcBef>
                <a:spcPts val="600"/>
              </a:spcBef>
              <a:defRPr sz="1400">
                <a:latin typeface="Courier New"/>
              </a:defRPr>
            </a:pPr>
            <a:r>
              <a:t>Only use Context</a:t>
            </a:r>
            <a:br/>
            <a:r>
              <a:t>No info -&gt; explicitly state</a:t>
            </a:r>
          </a:p>
          <a:p>
            <a:pPr>
              <a:spcBef>
                <a:spcPts val="600"/>
              </a:spcBef>
              <a:defRPr sz="1400"/>
            </a:pPr>
            <a:r>
              <a:t>Suppress hallucination</a:t>
            </a:r>
            <a:br/>
            <a:r>
              <a:t>Unified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Chunk 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Why Reduce Chunk Size?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Problems with 1500 tokens: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Mixed with irrelevant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Dense embedding signals diluted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High noise after BM25 hits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Not conducive to precise localization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Advantages of 800 tokens: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More concentrated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Directly corresponds to original paragraphs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200 overlap ensures continuity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Suitable for location-based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94501"/>
            <a:ext cx="8481233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Design Philosophy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Book QA is more like "location-based retrieval": expecting retrieval results to directly correspond to </a:t>
            </a:r>
            <a:endParaRPr lang="en-US"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one sentence or a small paragraph from the original text, rather than a large mixed chunk.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Hybrid Retriever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Comparison of Three Modes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Retrieval Mode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hit@3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hit@5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dense-only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Hard to pinpoint page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bm25-only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Most stable for book 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hybrid(0.5,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Slightly better than dense-only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hybrid(0.3, 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 Hybrid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hybrid(0.7,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Too high dense weight degrades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96F3"/>
                </a:solidFill>
              </a:defRPr>
            </a:pPr>
            <a:r>
              <a:t>Final Choice: Dense(0.3) + BM25(0.7)</a:t>
            </a:r>
          </a:p>
          <a:p>
            <a:pPr>
              <a:defRPr sz="1600"/>
            </a:pPr>
            <a:r>
              <a:t>In single-book + English text scenarios, higher BM25 weight configuration performs most stably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Multi-Query: The Recall Booster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Working Principle</a:t>
            </a:r>
          </a:p>
          <a:p>
            <a:br>
              <a:rPr dirty="0"/>
            </a:br>
            <a:r>
              <a:rPr dirty="0"/>
              <a:t>Original Question: "Why did he need the tape to be absolutely current?"</a:t>
            </a:r>
            <a:br>
              <a:rPr dirty="0"/>
            </a:br>
            <a:br>
              <a:rPr dirty="0"/>
            </a:br>
            <a:r>
              <a:rPr dirty="0"/>
              <a:t>LLM generates 4 rewrites:</a:t>
            </a:r>
            <a:br>
              <a:rPr dirty="0"/>
            </a:br>
            <a:r>
              <a:rPr dirty="0"/>
              <a:t>1. What was the importance of having real-time tape data?</a:t>
            </a:r>
            <a:br>
              <a:rPr dirty="0"/>
            </a:br>
            <a:r>
              <a:rPr dirty="0"/>
              <a:t>2. Why was timing critical for the tape reading method?</a:t>
            </a:r>
            <a:br>
              <a:rPr dirty="0"/>
            </a:br>
            <a:r>
              <a:rPr dirty="0"/>
              <a:t>3. How did tape delays affect trading decisions?</a:t>
            </a:r>
            <a:br>
              <a:rPr dirty="0"/>
            </a:br>
            <a:r>
              <a:rPr dirty="0"/>
              <a:t>4. What role did current prices play in the strategy?</a:t>
            </a:r>
            <a:br>
              <a:rPr dirty="0"/>
            </a:br>
            <a:br>
              <a:rPr dirty="0"/>
            </a:br>
            <a:r>
              <a:rPr dirty="0"/>
              <a:t>-&gt; Retrieve separately -&gt; Take union</a:t>
            </a:r>
            <a:br>
              <a:rPr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4601095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dirty="0"/>
              <a:t>Recall Improvement</a:t>
            </a:r>
          </a:p>
          <a:p>
            <a:pPr algn="ctr">
              <a:defRPr sz="3600" b="1"/>
            </a:pPr>
            <a:r>
              <a:rPr dirty="0"/>
              <a:t>20-40%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2" y="4601095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dirty="0"/>
              <a:t>Rewritten Queries</a:t>
            </a:r>
          </a:p>
          <a:p>
            <a:pPr algn="ctr">
              <a:defRPr sz="3600" b="1"/>
            </a:pPr>
            <a:r>
              <a:rPr dirty="0"/>
              <a:t>1-&gt;4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Prompt Rewrite: Suppress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t>Three Strict Rules</a:t>
            </a:r>
          </a:p>
          <a:p>
            <a:pPr>
              <a:spcBef>
                <a:spcPts val="400"/>
              </a:spcBef>
              <a:defRPr sz="1600"/>
            </a:pPr>
            <a:r>
              <a:t>1. Only use information from Context (prohibit external knowledge)</a:t>
            </a:r>
          </a:p>
          <a:p>
            <a:pPr>
              <a:spcBef>
                <a:spcPts val="400"/>
              </a:spcBef>
              <a:defRPr sz="1600"/>
            </a:pPr>
            <a:r>
              <a:t>2. Must explicitly state when information is insufficient</a:t>
            </a:r>
          </a:p>
          <a:p>
            <a:pPr>
              <a:spcBef>
                <a:spcPts val="400"/>
              </a:spcBef>
              <a:defRPr sz="1600"/>
            </a:pPr>
            <a:r>
              <a:t>   "Based on the provided information, I cannot fully answer this question."</a:t>
            </a:r>
          </a:p>
          <a:p>
            <a:pPr>
              <a:spcBef>
                <a:spcPts val="400"/>
              </a:spcBef>
              <a:defRPr sz="1600"/>
            </a:pPr>
            <a:r>
              <a:t>3. Limit answer to 1-3 sentences (avoid excessive summarization)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Effect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Before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Mixed with external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7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Fabricates when can't find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Over-summarizes into "short essays"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74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After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947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Strictly cites original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147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Explicitly states inability when can't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4348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Concise and precise 1-3 sentence answers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Evaluation System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Two Types of Test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Verbatim Questions</a:t>
            </a:r>
          </a:p>
          <a:p>
            <a:pPr>
              <a:defRPr sz="1400"/>
            </a:pPr>
            <a:r>
              <a:t>Answers are direct quotes from original text</a:t>
            </a:r>
            <a:br/>
            <a:r>
              <a:t>Example: "What is stabilising process?"</a:t>
            </a:r>
            <a:br/>
            <a:r>
              <a:t>-&gt; Strict page number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Summary Questions</a:t>
            </a:r>
          </a:p>
          <a:p>
            <a:pPr>
              <a:defRPr sz="1400"/>
            </a:pPr>
            <a:r>
              <a:t>Require summarizing multi-page content</a:t>
            </a:r>
            <a:br/>
            <a:r>
              <a:t>Example: "Why did coffee trading fail?"</a:t>
            </a:r>
            <a:br/>
            <a:r>
              <a:t>-&gt; Page number +/-1 window tolerance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Page Window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Verbatim: Only accept strict page in gold_pages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5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Summary: Accept page in [gold_page +/- 1]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Rationale: Summary questions have info distributed across 2-3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Question Complexity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70275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dirty="0"/>
              <a:t>Level 1: Single fact -&gt; "When did he go to work?"</a:t>
            </a:r>
            <a:br>
              <a:rPr dirty="0"/>
            </a:br>
            <a:r>
              <a:rPr dirty="0"/>
              <a:t>Level 2: Single causation -&gt; "Why did he say X?"</a:t>
            </a:r>
            <a:br>
              <a:rPr dirty="0"/>
            </a:br>
            <a:r>
              <a:rPr dirty="0"/>
              <a:t>Level 3: Combinatorial -&gt; "Explain ancient history + real-time need + </a:t>
            </a:r>
            <a:endParaRPr lang="en-US" dirty="0"/>
          </a:p>
          <a:p>
            <a:pPr>
              <a:defRPr sz="1400">
                <a:latin typeface="Courier New"/>
              </a:defRPr>
            </a:pPr>
            <a:r>
              <a:rPr dirty="0"/>
              <a:t>how delay breaks timing"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Optimization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Retrieval Hit Rate</a:t>
            </a:r>
          </a:p>
          <a:p>
            <a:pPr algn="ctr">
              <a:defRPr sz="4000" b="1">
                <a:solidFill>
                  <a:srgbClr val="4CAF50"/>
                </a:solidFill>
              </a:defRPr>
            </a:pPr>
            <a:r>
              <a:t>+40%</a:t>
            </a:r>
          </a:p>
          <a:p>
            <a:pPr algn="ctr">
              <a:defRPr sz="1400"/>
            </a:pPr>
            <a:r>
              <a:t>Significant hit@3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Hallucination Rate</a:t>
            </a:r>
          </a:p>
          <a:p>
            <a:pPr algn="ctr">
              <a:defRPr sz="4000" b="1">
                <a:solidFill>
                  <a:srgbClr val="2196F3"/>
                </a:solidFill>
              </a:defRPr>
            </a:pPr>
            <a:r>
              <a:t>-60%</a:t>
            </a:r>
          </a:p>
          <a:p>
            <a:pPr algn="ctr">
              <a:defRPr sz="1400"/>
            </a:pPr>
            <a:r>
              <a:t>Significant reduction in fabrication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Five Core Optimization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600"/>
            </a:pPr>
            <a:r>
              <a:t>• More Accurate Retrieval: BM25 + Multi-Query -&gt; stable page hit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600"/>
            </a:pPr>
            <a:r>
              <a:t>• More Complete Retrieval: Chunk reform(800) + Multi-Query -&gt; 20-40% recall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600"/>
            </a:pPr>
            <a:r>
              <a:t>• Safer Answers: New Prompt eliminates hallucination, only uses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600"/>
            </a:pPr>
            <a:r>
              <a:t>• More Reasonable Evaluation: Page window solves summary question misjudgment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600"/>
            </a:pPr>
            <a:r>
              <a:t>• More Controllable System: Explainable, reproducible, tunable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</a:defRPr>
            </a:pPr>
            <a:r>
              <a:t>Complete Optimization Path from "Working" to "Working Well"</a:t>
            </a:r>
          </a:p>
          <a:p>
            <a:pPr algn="ctr">
              <a:spcBef>
                <a:spcPts val="800"/>
              </a:spcBef>
              <a:defRPr sz="1600"/>
            </a:pPr>
            <a:r>
              <a:t>Precision UP + Recall UP + Safety UP + Evaluation Scientificity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830</Words>
  <Application>Microsoft Macintosh PowerPoint</Application>
  <PresentationFormat>On-screen Show (4:3)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Qingyu Zhou</cp:lastModifiedBy>
  <cp:revision>2</cp:revision>
  <dcterms:created xsi:type="dcterms:W3CDTF">2013-01-27T09:14:16Z</dcterms:created>
  <dcterms:modified xsi:type="dcterms:W3CDTF">2025-12-05T05:03:08Z</dcterms:modified>
  <cp:category/>
</cp:coreProperties>
</file>